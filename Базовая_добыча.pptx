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2033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Базовая добыча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05F7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Интеграция и настройка процессов — цифровые инструменты (БЦИ + Блоки)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91672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93976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03704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2033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НТЦ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05F7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(ресурс КЦ)</a:t>
            </a:r>
            <a:endParaRPr lang="en-US" sz="17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0203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Операционка КЦ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743200" cy="1591056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95020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2033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ИТС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05F7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(ресурс ДО)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5 ДО + доп. ресурс (типовые продукты)</a:t>
            </a:r>
            <a:endParaRPr lang="en-US" sz="17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0203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Операционка ДО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0" y="15910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1B2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Комплексный БК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9385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2033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Потенциал от пласта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0" y="2231136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EC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23113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03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Страт. уровень   ·   Долгосрочн. пл-е   ·   Экспертиза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3218688"/>
            <a:ext cx="2194560" cy="502920"/>
          </a:xfrm>
          <a:prstGeom prst="ellipse">
            <a:avLst/>
          </a:prstGeom>
          <a:solidFill>
            <a:srgbClr val="9FE3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32186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203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Типовые продукты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3931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2033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Потенциал от скважин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0" y="4224528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EC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42245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03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Опер. цикл   ·   Кратк. пл-е   ·   Исполнение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5266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71B2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БЦИ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0" y="5559552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007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55595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СПЕКТР   ·   ЭРА   ·   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4920" y="2642616"/>
            <a:ext cx="594360" cy="0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642616"/>
            <a:ext cx="0" cy="3136392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5779008"/>
            <a:ext cx="594360" cy="0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49240" y="4636008"/>
            <a:ext cx="320040" cy="0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4636008"/>
            <a:ext cx="0" cy="1517904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6153912"/>
            <a:ext cx="320040" cy="0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583680" y="3703320"/>
            <a:ext cx="960120" cy="502920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3703320"/>
            <a:ext cx="960120" cy="502920"/>
          </a:xfrm>
          <a:prstGeom prst="line">
            <a:avLst/>
          </a:prstGeom>
          <a:noFill/>
          <a:ln w="22225">
            <a:solidFill>
              <a:srgbClr val="0F559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789920" y="5971032"/>
            <a:ext cx="502920" cy="0"/>
          </a:xfrm>
          <a:prstGeom prst="line">
            <a:avLst/>
          </a:prstGeom>
          <a:noFill/>
          <a:ln w="22225">
            <a:solidFill>
              <a:srgbClr val="2FB4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2642616"/>
            <a:ext cx="0" cy="3328416"/>
          </a:xfrm>
          <a:prstGeom prst="line">
            <a:avLst/>
          </a:prstGeom>
          <a:noFill/>
          <a:ln w="22225">
            <a:solidFill>
              <a:srgbClr val="2FB4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89920" y="2642616"/>
            <a:ext cx="502920" cy="0"/>
          </a:xfrm>
          <a:prstGeom prst="line">
            <a:avLst/>
          </a:prstGeom>
          <a:noFill/>
          <a:ln w="22225">
            <a:solidFill>
              <a:srgbClr val="2FB4E9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10789920" y="4636008"/>
            <a:ext cx="502920" cy="0"/>
          </a:xfrm>
          <a:prstGeom prst="line">
            <a:avLst/>
          </a:prstGeom>
          <a:noFill/>
          <a:ln w="22225">
            <a:solidFill>
              <a:srgbClr val="2FB4E9"/>
            </a:solidFill>
            <a:prstDash val="solid"/>
            <a:headEnd type="triangle"/>
          </a:ln>
        </p:spPr>
      </p:sp>
      <p:pic>
        <p:nvPicPr>
          <p:cNvPr id="33" name="Image 0" descr="ubd_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559552"/>
            <a:ext cx="822960" cy="8229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977640" y="5833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71B2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УБД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2033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Преимущества НТЦ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264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71B2"/>
                </a:solid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Страт. уровень: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8961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Разработка и поддержка инструментов УБД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Разработка методологии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Развитие компетенций БРД</a:t>
            </a:r>
            <a:endParaRPr lang="en-US" sz="1450" dirty="0"/>
          </a:p>
          <a:p>
            <a:pPr algn="l" marL="177800" indent="-177800"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«Операционка» КЦ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u="sng" dirty="0">
                <a:solidFill>
                  <a:srgbClr val="002033"/>
                </a:solidFill>
                <a:uFill>
                  <a:solidFill>
                    <a:srgbClr val="FF4040"/>
                  </a:solidFill>
                </a:uFill>
                <a:latin typeface="GPN_DIN Bold" pitchFamily="34" charset="0"/>
                <a:ea typeface="GPN_DIN Bold" pitchFamily="34" charset="-122"/>
                <a:cs typeface="GPN_DIN Bold" pitchFamily="34" charset="-120"/>
              </a:rPr>
              <a:t>Аналитич. центр КЦ по БД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3694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02033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Доп. ресурс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691640" y="3849624"/>
            <a:ext cx="457200" cy="0"/>
          </a:xfrm>
          <a:prstGeom prst="line">
            <a:avLst/>
          </a:prstGeom>
          <a:noFill/>
          <a:ln w="25400">
            <a:solidFill>
              <a:srgbClr val="0078D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286000" y="36941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для принятия решений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07408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4040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У нас есть БЦИ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Независимость (ИТС = ресурс ДО)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Участие в разных уровнях упр-я (ИТС = локальные задачи)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Высокий уровень экспертизы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Синергия полноты цикла упр-я добычей (ВНС, реновация, ОИЗ, реинжиниринг)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02033"/>
                </a:solidFill>
                <a:latin typeface="GPN_DIN Regular" pitchFamily="34" charset="0"/>
                <a:ea typeface="GPN_DIN Regular" pitchFamily="34" charset="-122"/>
                <a:cs typeface="GPN_DIN Regular" pitchFamily="34" charset="-120"/>
              </a:rPr>
              <a:t>Гибкий ресурс (привлечение любых ЦК)</a:t>
            </a:r>
            <a:endParaRPr lang="en-US" sz="1450" dirty="0"/>
          </a:p>
          <a:p>
            <a:pPr algn="l" marL="177800" indent="-177800">
              <a:buSzPct val="100000"/>
              <a:buChar char="•"/>
            </a:pPr>
            <a:r>
              <a:rPr lang="en-US" sz="1450" dirty="0">
                <a:solidFill>
                  <a:srgbClr val="FF4040"/>
                </a:solidFill>
                <a:latin typeface="GPN_DIN Medium" pitchFamily="34" charset="0"/>
                <a:ea typeface="GPN_DIN Medium" pitchFamily="34" charset="-122"/>
                <a:cs typeface="GPN_DIN Medium" pitchFamily="34" charset="-120"/>
              </a:rPr>
              <a:t>Можем увязать страт. уровень и операционный (концепты)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2026-08-14T12:04:57Z</dcterms:created>
  <dcterms:modified xsi:type="dcterms:W3CDTF">2026-08-14T12:04:57Z</dcterms:modified>
</cp:coreProperties>
</file>